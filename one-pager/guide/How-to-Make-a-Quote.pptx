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171717"/>
                </a:solidFill>
                <a:latin typeface="Inter"/>
              </a:rPr>
              <a:t>How to make a quote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6B6B6B"/>
                </a:solidFill>
                <a:latin typeface="Inter"/>
              </a:rPr>
              <a:t>Helix package quotes  ·  368 Event Management  ×  Hellhound Audio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3246120" cy="2651760"/>
          </a:xfrm>
          <a:prstGeom prst="roundRect">
            <a:avLst>
              <a:gd name="adj" fmla="val 68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0632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096CF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93192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71717"/>
                </a:solidFill>
                <a:latin typeface="Inter"/>
              </a:rPr>
              <a:t>Pick a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61772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Live Zoom, or Live Zoom + Cocktail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3749039"/>
            <a:ext cx="3657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743200"/>
            <a:ext cx="3246120" cy="2651760"/>
          </a:xfrm>
          <a:prstGeom prst="roundRect">
            <a:avLst>
              <a:gd name="adj" fmla="val 68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30632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096CF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93192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71717"/>
                </a:solidFill>
                <a:latin typeface="Inter"/>
              </a:rPr>
              <a:t>Fill in the blue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461772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Client, date,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749039"/>
            <a:ext cx="3657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743200"/>
            <a:ext cx="3246120" cy="2651760"/>
          </a:xfrm>
          <a:prstGeom prst="roundRect">
            <a:avLst>
              <a:gd name="adj" fmla="val 68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0632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096CF"/>
                </a:solidFill>
                <a:latin typeface="Inte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3192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71717"/>
                </a:solidFill>
                <a:latin typeface="Inter"/>
              </a:rPr>
              <a:t>Click Make 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61772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A clean one-page quote, saved in Drive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6B6B6B"/>
                </a:solidFill>
                <a:latin typeface="Inter"/>
              </a:rPr>
              <a:t>No math. No line items. </a:t>
            </a:r>
            <a:r>
              <a:rPr sz="1600" b="0">
                <a:solidFill>
                  <a:srgbClr val="6B6B6B"/>
                </a:solidFill>
                <a:latin typeface="Inter"/>
              </a:rPr>
              <a:t>Prices come from the Packages tab.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777240"/>
            <a:ext cx="1243584" cy="457200"/>
          </a:xfrm>
          <a:prstGeom prst="roundRect">
            <a:avLst>
              <a:gd name="adj" fmla="val 50000"/>
            </a:avLst>
          </a:prstGeom>
          <a:solidFill>
            <a:srgbClr val="009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Inter"/>
              </a:rPr>
              <a:t>STEP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338328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1717"/>
                </a:solidFill>
                <a:latin typeface="Inter"/>
              </a:rPr>
              <a:t>Start a new quote.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291840" cy="3566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6B6B6B"/>
                </a:solidFill>
                <a:latin typeface="Inter"/>
              </a:rPr>
              <a:t>1  </a:t>
            </a:r>
            <a:r>
              <a:rPr sz="2000" b="0">
                <a:solidFill>
                  <a:srgbClr val="6B6B6B"/>
                </a:solidFill>
                <a:latin typeface="Inter"/>
              </a:rPr>
              <a:t>Click the </a:t>
            </a:r>
            <a:r>
              <a:rPr sz="2000" b="1">
                <a:solidFill>
                  <a:srgbClr val="6B6B6B"/>
                </a:solidFill>
                <a:latin typeface="Inter"/>
              </a:rPr>
              <a:t>Quote</a:t>
            </a:r>
            <a:r>
              <a:rPr sz="2000" b="0">
                <a:solidFill>
                  <a:srgbClr val="6B6B6B"/>
                </a:solidFill>
                <a:latin typeface="Inter"/>
              </a:rPr>
              <a:t> tab at the bottom.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1">
                <a:solidFill>
                  <a:srgbClr val="6B6B6B"/>
                </a:solidFill>
                <a:latin typeface="Inter"/>
              </a:rPr>
              <a:t>2  </a:t>
            </a:r>
            <a:r>
              <a:rPr sz="2000" b="0">
                <a:solidFill>
                  <a:srgbClr val="6B6B6B"/>
                </a:solidFill>
                <a:latin typeface="Inter"/>
              </a:rPr>
              <a:t>Click </a:t>
            </a:r>
            <a:r>
              <a:rPr sz="2000" b="1">
                <a:solidFill>
                  <a:srgbClr val="6B6B6B"/>
                </a:solidFill>
                <a:latin typeface="Inter"/>
              </a:rPr>
              <a:t>Start new quote</a:t>
            </a:r>
            <a:r>
              <a:rPr sz="2000" b="0">
                <a:solidFill>
                  <a:srgbClr val="6B6B6B"/>
                </a:solidFill>
                <a:latin typeface="Inter"/>
              </a:rPr>
              <a:t>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0">
                <a:solidFill>
                  <a:srgbClr val="6B6B6B"/>
                </a:solidFill>
                <a:latin typeface="Inter"/>
              </a:rPr>
              <a:t>It clears the old quote and sets the next quote number.</a:t>
            </a:r>
          </a:p>
        </p:txBody>
      </p:sp>
      <p:pic>
        <p:nvPicPr>
          <p:cNvPr id="6" name="Picture 5" descr="quote-0-180-1320-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777240"/>
            <a:ext cx="7635240" cy="41646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60520" y="777240"/>
            <a:ext cx="7635240" cy="4164676"/>
          </a:xfrm>
          <a:prstGeom prst="roundRect">
            <a:avLst>
              <a:gd name="adj" fmla="val 1317"/>
            </a:avLst>
          </a:prstGeom>
          <a:noFill/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23261" y="4652702"/>
            <a:ext cx="597768" cy="318135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51959" y="4149782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59" y="4149782"/>
            <a:ext cx="24688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1   Quote tab</a:t>
            </a:r>
          </a:p>
        </p:txBody>
      </p:sp>
      <p:sp>
        <p:nvSpPr>
          <p:cNvPr id="11" name="Oval 10"/>
          <p:cNvSpPr/>
          <p:nvPr/>
        </p:nvSpPr>
        <p:spPr>
          <a:xfrm>
            <a:off x="10060478" y="1650665"/>
            <a:ext cx="1446068" cy="416467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81870" y="1648586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1870" y="1648586"/>
            <a:ext cx="24688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2   Start new quote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777240"/>
            <a:ext cx="1243584" cy="457200"/>
          </a:xfrm>
          <a:prstGeom prst="roundRect">
            <a:avLst>
              <a:gd name="adj" fmla="val 50000"/>
            </a:avLst>
          </a:prstGeom>
          <a:solidFill>
            <a:srgbClr val="009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Inter"/>
              </a:rPr>
              <a:t>STEP 3–4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338328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1717"/>
                </a:solidFill>
                <a:latin typeface="Inter"/>
              </a:rPr>
              <a:t>Fill it 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291840" cy="3566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6B6B6B"/>
                </a:solidFill>
                <a:latin typeface="Inter"/>
              </a:rPr>
              <a:t>3  </a:t>
            </a:r>
            <a:r>
              <a:rPr sz="2000" b="0">
                <a:solidFill>
                  <a:srgbClr val="6B6B6B"/>
                </a:solidFill>
                <a:latin typeface="Inter"/>
              </a:rPr>
              <a:t>Pick the </a:t>
            </a:r>
            <a:r>
              <a:rPr sz="2000" b="1">
                <a:solidFill>
                  <a:srgbClr val="6B6B6B"/>
                </a:solidFill>
                <a:latin typeface="Inter"/>
              </a:rPr>
              <a:t>package</a:t>
            </a:r>
            <a:r>
              <a:rPr sz="2000" b="0">
                <a:solidFill>
                  <a:srgbClr val="6B6B6B"/>
                </a:solidFill>
                <a:latin typeface="Inter"/>
              </a:rPr>
              <a:t> from the list.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1">
                <a:solidFill>
                  <a:srgbClr val="6B6B6B"/>
                </a:solidFill>
                <a:latin typeface="Inter"/>
              </a:rPr>
              <a:t>4  </a:t>
            </a:r>
            <a:r>
              <a:rPr sz="2000" b="0">
                <a:solidFill>
                  <a:srgbClr val="6B6B6B"/>
                </a:solidFill>
                <a:latin typeface="Inter"/>
              </a:rPr>
              <a:t>Type in the </a:t>
            </a:r>
            <a:r>
              <a:rPr sz="2000" b="1">
                <a:solidFill>
                  <a:srgbClr val="6B6B6B"/>
                </a:solidFill>
                <a:latin typeface="Inter"/>
              </a:rPr>
              <a:t>blue cells</a:t>
            </a:r>
            <a:r>
              <a:rPr sz="2000" b="0">
                <a:solidFill>
                  <a:srgbClr val="6B6B6B"/>
                </a:solidFill>
                <a:latin typeface="Inter"/>
              </a:rPr>
              <a:t>: client, date, days.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0">
                <a:solidFill>
                  <a:srgbClr val="6B6B6B"/>
                </a:solidFill>
                <a:latin typeface="Inter"/>
              </a:rPr>
              <a:t>The gray words next to each cell say what goes there.</a:t>
            </a:r>
          </a:p>
        </p:txBody>
      </p:sp>
      <p:pic>
        <p:nvPicPr>
          <p:cNvPr id="6" name="Picture 5" descr="quote-empty-0-180-800-5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777240"/>
            <a:ext cx="7635240" cy="53446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60520" y="777240"/>
            <a:ext cx="7635240" cy="5344668"/>
          </a:xfrm>
          <a:prstGeom prst="roundRect">
            <a:avLst>
              <a:gd name="adj" fmla="val 1026"/>
            </a:avLst>
          </a:prstGeom>
          <a:noFill/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9604" y="1316478"/>
            <a:ext cx="3340417" cy="477202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344768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1344768"/>
            <a:ext cx="24688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3   Pick from the list</a:t>
            </a:r>
          </a:p>
        </p:txBody>
      </p:sp>
      <p:sp>
        <p:nvSpPr>
          <p:cNvPr id="11" name="Oval 10"/>
          <p:cNvSpPr/>
          <p:nvPr/>
        </p:nvSpPr>
        <p:spPr>
          <a:xfrm>
            <a:off x="6619604" y="1602800"/>
            <a:ext cx="3340417" cy="477202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19604" y="1889121"/>
            <a:ext cx="3340417" cy="477202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35440" y="1917411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1917411"/>
            <a:ext cx="24688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4   Type in blue cells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777240"/>
            <a:ext cx="1243584" cy="457200"/>
          </a:xfrm>
          <a:prstGeom prst="roundRect">
            <a:avLst>
              <a:gd name="adj" fmla="val 50000"/>
            </a:avLst>
          </a:prstGeom>
          <a:solidFill>
            <a:srgbClr val="009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243584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Inter"/>
              </a:rPr>
              <a:t>STEP 5–6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338328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1717"/>
                </a:solidFill>
                <a:latin typeface="Inter"/>
              </a:rPr>
              <a:t>Make the PDF.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291840" cy="3566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6B6B6B"/>
                </a:solidFill>
                <a:latin typeface="Inter"/>
              </a:rPr>
              <a:t>5  </a:t>
            </a:r>
            <a:r>
              <a:rPr sz="2000" b="0">
                <a:solidFill>
                  <a:srgbClr val="6B6B6B"/>
                </a:solidFill>
                <a:latin typeface="Inter"/>
              </a:rPr>
              <a:t>Click </a:t>
            </a:r>
            <a:r>
              <a:rPr sz="2000" b="1">
                <a:solidFill>
                  <a:srgbClr val="6B6B6B"/>
                </a:solidFill>
                <a:latin typeface="Inter"/>
              </a:rPr>
              <a:t>Make PDF</a:t>
            </a:r>
            <a:r>
              <a:rPr sz="2000" b="0">
                <a:solidFill>
                  <a:srgbClr val="6B6B6B"/>
                </a:solidFill>
                <a:latin typeface="Inter"/>
              </a:rPr>
              <a:t>. Wait a few seconds.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1">
                <a:solidFill>
                  <a:srgbClr val="6B6B6B"/>
                </a:solidFill>
                <a:latin typeface="Inter"/>
              </a:rPr>
              <a:t>6  </a:t>
            </a:r>
            <a:r>
              <a:rPr sz="2000" b="0">
                <a:solidFill>
                  <a:srgbClr val="6B6B6B"/>
                </a:solidFill>
                <a:latin typeface="Inter"/>
              </a:rPr>
              <a:t>Click </a:t>
            </a:r>
            <a:r>
              <a:rPr sz="2000" b="1">
                <a:solidFill>
                  <a:srgbClr val="6B6B6B"/>
                </a:solidFill>
                <a:latin typeface="Inter"/>
              </a:rPr>
              <a:t>Open PDF</a:t>
            </a:r>
            <a:r>
              <a:rPr sz="2000" b="0">
                <a:solidFill>
                  <a:srgbClr val="6B6B6B"/>
                </a:solidFill>
                <a:latin typeface="Inter"/>
              </a:rPr>
              <a:t>. Send it to the client.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0">
                <a:solidFill>
                  <a:srgbClr val="6B6B6B"/>
                </a:solidFill>
                <a:latin typeface="Inter"/>
              </a:rPr>
              <a:t>Need to change a word? Click </a:t>
            </a:r>
            <a:r>
              <a:rPr sz="2000" b="1">
                <a:solidFill>
                  <a:srgbClr val="6B6B6B"/>
                </a:solidFill>
                <a:latin typeface="Inter"/>
              </a:rPr>
              <a:t>Edit as Google Doc</a:t>
            </a:r>
            <a:r>
              <a:rPr sz="2000" b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pic>
        <p:nvPicPr>
          <p:cNvPr id="6" name="Picture 5" descr="done-380-160-960-5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777240"/>
            <a:ext cx="7635240" cy="445389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60520" y="777240"/>
            <a:ext cx="7635240" cy="4453890"/>
          </a:xfrm>
          <a:prstGeom prst="roundRect">
            <a:avLst>
              <a:gd name="adj" fmla="val 1231"/>
            </a:avLst>
          </a:prstGeom>
          <a:noFill/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50680" y="1397603"/>
            <a:ext cx="1988343" cy="572643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10411" y="894683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0411" y="894683"/>
            <a:ext cx="24688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5   Make PDF</a:t>
            </a:r>
          </a:p>
        </p:txBody>
      </p:sp>
      <p:sp>
        <p:nvSpPr>
          <p:cNvPr id="11" name="Oval 10"/>
          <p:cNvSpPr/>
          <p:nvPr/>
        </p:nvSpPr>
        <p:spPr>
          <a:xfrm>
            <a:off x="5751195" y="2952488"/>
            <a:ext cx="722762" cy="294274"/>
          </a:xfrm>
          <a:prstGeom prst="ellipse">
            <a:avLst/>
          </a:prstGeom>
          <a:noFill/>
          <a:ln w="57150">
            <a:solidFill>
              <a:srgbClr val="E83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78136" y="3319914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8136" y="3319914"/>
            <a:ext cx="24688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6   Open 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71717"/>
                </a:solidFill>
                <a:latin typeface="Inter"/>
              </a:rPr>
              <a:t>That’s it. This is the quote.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420624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6B6B6B"/>
                </a:solidFill>
                <a:latin typeface="Inter"/>
              </a:rPr>
              <a:t>One page. Letter size. Ready to email or print.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0">
                <a:solidFill>
                  <a:srgbClr val="6B6B6B"/>
                </a:solidFill>
                <a:latin typeface="Inter"/>
              </a:rPr>
              <a:t>Saved in the </a:t>
            </a:r>
            <a:r>
              <a:rPr sz="2000" b="1">
                <a:solidFill>
                  <a:srgbClr val="6B6B6B"/>
                </a:solidFill>
                <a:latin typeface="Inter"/>
              </a:rPr>
              <a:t>Helix Quotes</a:t>
            </a:r>
            <a:r>
              <a:rPr sz="2000" b="0">
                <a:solidFill>
                  <a:srgbClr val="6B6B6B"/>
                </a:solidFill>
                <a:latin typeface="Inter"/>
              </a:rPr>
              <a:t> folder in Google Drive.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2000" b="0">
                <a:solidFill>
                  <a:srgbClr val="6B6B6B"/>
                </a:solidFill>
                <a:latin typeface="Inter"/>
              </a:rPr>
              <a:t>Every quote is listed on the </a:t>
            </a:r>
            <a:r>
              <a:rPr sz="2000" b="1">
                <a:solidFill>
                  <a:srgbClr val="6B6B6B"/>
                </a:solidFill>
                <a:latin typeface="Inter"/>
              </a:rPr>
              <a:t>Log</a:t>
            </a:r>
            <a:r>
              <a:rPr sz="2000" b="0">
                <a:solidFill>
                  <a:srgbClr val="6B6B6B"/>
                </a:solidFill>
                <a:latin typeface="Inter"/>
              </a:rPr>
              <a:t> tab, with links.</a:t>
            </a:r>
          </a:p>
        </p:txBody>
      </p:sp>
      <p:pic>
        <p:nvPicPr>
          <p:cNvPr id="4" name="Picture 3" descr="onep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02920"/>
            <a:ext cx="4522124" cy="5852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502920"/>
            <a:ext cx="4522123" cy="5852160"/>
          </a:xfrm>
          <a:prstGeom prst="roundRect">
            <a:avLst>
              <a:gd name="adj" fmla="val 808"/>
            </a:avLst>
          </a:prstGeom>
          <a:noFill/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171717"/>
                </a:solidFill>
                <a:latin typeface="Inter"/>
              </a:rPr>
              <a:t>If something’s off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83080"/>
            <a:ext cx="10515600" cy="1005840"/>
          </a:xfrm>
          <a:prstGeom prst="roundRect">
            <a:avLst>
              <a:gd name="adj" fmla="val 1636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71717"/>
                </a:solidFill>
                <a:latin typeface="Inter"/>
              </a:rPr>
              <a:t>It says “Fix these first.”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35000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A blue cell is empty or wrong. Fix what it lists, then click Make PDF again.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71800"/>
            <a:ext cx="10515600" cy="1005840"/>
          </a:xfrm>
          <a:prstGeom prst="roundRect">
            <a:avLst>
              <a:gd name="adj" fmla="val 1636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5468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71717"/>
                </a:solidFill>
                <a:latin typeface="Inter"/>
              </a:rPr>
              <a:t>A price is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53872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Go to the Packages tab and change the number. Every new quote uses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005840"/>
          </a:xfrm>
          <a:prstGeom prst="roundRect">
            <a:avLst>
              <a:gd name="adj" fmla="val 1636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71717"/>
                </a:solidFill>
                <a:latin typeface="Inter"/>
              </a:rPr>
              <a:t>The buttons don’t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274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Use the Quotes menu at the top instead. The phone app has no buttons.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49240"/>
            <a:ext cx="10515600" cy="1005840"/>
          </a:xfrm>
          <a:prstGeom prst="roundRect">
            <a:avLst>
              <a:gd name="adj" fmla="val 1636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53212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71717"/>
                </a:solidFill>
                <a:latin typeface="Inter"/>
              </a:rPr>
              <a:t>Only type in blue cells.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91616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6B6B"/>
                </a:solidFill>
                <a:latin typeface="Inter"/>
              </a:rPr>
              <a:t>Everything else fills itself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