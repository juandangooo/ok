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171717"/>
                </a:solidFill>
                <a:latin typeface="Inter"/>
              </a:rPr>
              <a:t>How to make a quote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6B6B6B"/>
                </a:solidFill>
                <a:latin typeface="Inter"/>
              </a:rPr>
              <a:t>Helix package quotes  ·  pick a package, fill in the blue cells, click Make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6B6B"/>
                </a:solidFill>
                <a:latin typeface="Inter"/>
              </a:rPr>
              <a:t>368 Event Management  ×  Hellhound Audio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71717"/>
                </a:solidFill>
                <a:latin typeface="Inter"/>
              </a:rPr>
              <a:t>What it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3246120" cy="2743200"/>
          </a:xfrm>
          <a:prstGeom prst="roundRect">
            <a:avLst>
              <a:gd name="adj" fmla="val 6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4231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96CF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71717"/>
                </a:solidFill>
                <a:latin typeface="Inter"/>
              </a:rPr>
              <a:t>You type the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69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B6B"/>
                </a:solidFill>
                <a:latin typeface="Inter"/>
              </a:rPr>
              <a:t>Client, date,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310896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246120" cy="2743200"/>
          </a:xfrm>
          <a:prstGeom prst="roundRect">
            <a:avLst>
              <a:gd name="adj" fmla="val 6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4231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96C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2918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71717"/>
                </a:solidFill>
                <a:latin typeface="Inter"/>
              </a:rPr>
              <a:t>You click Make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069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B6B"/>
                </a:solidFill>
                <a:latin typeface="Inter"/>
              </a:rPr>
              <a:t>One 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0896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6B6B6B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46120" cy="2743200"/>
          </a:xfrm>
          <a:prstGeom prst="roundRect">
            <a:avLst>
              <a:gd name="adj" fmla="val 6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4231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96C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918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71717"/>
                </a:solidFill>
                <a:latin typeface="Inter"/>
              </a:rPr>
              <a:t>You get the 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69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B6B"/>
                </a:solidFill>
                <a:latin typeface="Inter"/>
              </a:rPr>
              <a:t>A clean one-page PDF, saved in 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6B6B6B"/>
                </a:solidFill>
                <a:latin typeface="Inter"/>
              </a:rPr>
              <a:t>No math. No line items. </a:t>
            </a:r>
            <a:r>
              <a:rPr sz="1800" b="0">
                <a:solidFill>
                  <a:srgbClr val="6B6B6B"/>
                </a:solidFill>
                <a:latin typeface="Inter"/>
              </a:rPr>
              <a:t>Prices come from the Packages tab.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Open the sheet. Click the Quote tab.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Open </a:t>
            </a:r>
            <a:r>
              <a:rPr sz="2000" b="1">
                <a:solidFill>
                  <a:srgbClr val="6B6B6B"/>
                </a:solidFill>
                <a:latin typeface="Inter"/>
              </a:rPr>
              <a:t>Helix Package Quotes</a:t>
            </a:r>
            <a:r>
              <a:rPr sz="2000" b="0">
                <a:solidFill>
                  <a:srgbClr val="6B6B6B"/>
                </a:solidFill>
                <a:latin typeface="Inter"/>
              </a:rPr>
              <a:t> in Google Drive.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0">
                <a:solidFill>
                  <a:srgbClr val="6B6B6B"/>
                </a:solidFill>
                <a:latin typeface="Inter"/>
              </a:rPr>
              <a:t>The tabs are at the </a:t>
            </a:r>
            <a:r>
              <a:rPr sz="2000" b="1">
                <a:solidFill>
                  <a:srgbClr val="6B6B6B"/>
                </a:solidFill>
                <a:latin typeface="Inter"/>
              </a:rPr>
              <a:t>bottom</a:t>
            </a:r>
            <a:r>
              <a:rPr sz="2000" b="0">
                <a:solidFill>
                  <a:srgbClr val="6B6B6B"/>
                </a:solidFill>
                <a:latin typeface="Inter"/>
              </a:rPr>
              <a:t> of the screen.</a:t>
            </a:r>
          </a:p>
        </p:txBody>
      </p:sp>
      <p:pic>
        <p:nvPicPr>
          <p:cNvPr id="6" name="Picture 5" descr="quote-0-340-800-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35240" cy="53446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35240" cy="5344668"/>
          </a:xfrm>
          <a:prstGeom prst="roundRect">
            <a:avLst>
              <a:gd name="adj" fmla="val 1026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24044" y="5644705"/>
            <a:ext cx="986317" cy="524922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59" y="5141785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5141785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Click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Click Start new quote.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It clears the old client and date.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0">
                <a:solidFill>
                  <a:srgbClr val="6B6B6B"/>
                </a:solidFill>
                <a:latin typeface="Inter"/>
              </a:rPr>
              <a:t>The quote number goes up by one </a:t>
            </a:r>
            <a:r>
              <a:rPr sz="2000" b="1">
                <a:solidFill>
                  <a:srgbClr val="6B6B6B"/>
                </a:solidFill>
                <a:latin typeface="Inter"/>
              </a:rPr>
              <a:t>on its own</a:t>
            </a:r>
            <a:r>
              <a:rPr sz="2000" b="0">
                <a:solidFill>
                  <a:srgbClr val="6B6B6B"/>
                </a:solidFill>
                <a:latin typeface="Inter"/>
              </a:rPr>
              <a:t>.</a:t>
            </a:r>
          </a:p>
        </p:txBody>
      </p:sp>
      <p:pic>
        <p:nvPicPr>
          <p:cNvPr id="6" name="Picture 5" descr="quote-560-180-760-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592906" cy="53949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592906" cy="5394959"/>
          </a:xfrm>
          <a:prstGeom prst="roundRect">
            <a:avLst>
              <a:gd name="adj" fmla="val 1016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56226" y="2285830"/>
            <a:ext cx="2497666" cy="719328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7618" y="2435182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7618" y="2435182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Click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Pick the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Click the </a:t>
            </a:r>
            <a:r>
              <a:rPr sz="2000" b="1">
                <a:solidFill>
                  <a:srgbClr val="6B6B6B"/>
                </a:solidFill>
                <a:latin typeface="Inter"/>
              </a:rPr>
              <a:t>Package</a:t>
            </a:r>
            <a:r>
              <a:rPr sz="2000" b="0">
                <a:solidFill>
                  <a:srgbClr val="6B6B6B"/>
                </a:solidFill>
                <a:latin typeface="Inter"/>
              </a:rPr>
              <a:t> cell.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0">
                <a:solidFill>
                  <a:srgbClr val="6B6B6B"/>
                </a:solidFill>
                <a:latin typeface="Inter"/>
              </a:rPr>
              <a:t>Pick from the list. </a:t>
            </a:r>
            <a:r>
              <a:rPr sz="2000" b="1">
                <a:solidFill>
                  <a:srgbClr val="6B6B6B"/>
                </a:solidFill>
                <a:latin typeface="Inter"/>
              </a:rPr>
              <a:t>Don't type it.</a:t>
            </a:r>
          </a:p>
        </p:txBody>
      </p:sp>
      <p:pic>
        <p:nvPicPr>
          <p:cNvPr id="6" name="Picture 5" descr="quote-0-180-800-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35240" cy="53446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35240" cy="5344668"/>
          </a:xfrm>
          <a:prstGeom prst="roundRect">
            <a:avLst>
              <a:gd name="adj" fmla="val 1026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19604" y="1316478"/>
            <a:ext cx="3340417" cy="477202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1344768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344768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Pick from the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Fill in the blue cells.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Only type in the </a:t>
            </a:r>
            <a:r>
              <a:rPr sz="2000" b="1">
                <a:solidFill>
                  <a:srgbClr val="6B6B6B"/>
                </a:solidFill>
                <a:latin typeface="Inter"/>
              </a:rPr>
              <a:t>blue</a:t>
            </a:r>
            <a:r>
              <a:rPr sz="2000" b="0">
                <a:solidFill>
                  <a:srgbClr val="6B6B6B"/>
                </a:solidFill>
                <a:latin typeface="Inter"/>
              </a:rPr>
              <a:t> cells.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0">
                <a:solidFill>
                  <a:srgbClr val="6B6B6B"/>
                </a:solidFill>
                <a:latin typeface="Inter"/>
              </a:rPr>
              <a:t>The gray words next to each one tell you what goes there.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1">
                <a:solidFill>
                  <a:srgbClr val="6B6B6B"/>
                </a:solidFill>
                <a:latin typeface="Inter"/>
              </a:rPr>
              <a:t>Add-ons</a:t>
            </a:r>
            <a:r>
              <a:rPr sz="2000" b="0">
                <a:solidFill>
                  <a:srgbClr val="6B6B6B"/>
                </a:solidFill>
                <a:latin typeface="Inter"/>
              </a:rPr>
              <a:t> at the bottom are optional.</a:t>
            </a:r>
          </a:p>
        </p:txBody>
      </p:sp>
      <p:pic>
        <p:nvPicPr>
          <p:cNvPr id="6" name="Picture 5" descr="quote-empty-0-180-800-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35240" cy="53446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35240" cy="5344668"/>
          </a:xfrm>
          <a:prstGeom prst="roundRect">
            <a:avLst>
              <a:gd name="adj" fmla="val 1026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19604" y="1602800"/>
            <a:ext cx="3340417" cy="477202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19604" y="1889121"/>
            <a:ext cx="3340417" cy="477202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0" y="1917411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917411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Type these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Click Make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Wait a few seconds.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0">
                <a:solidFill>
                  <a:srgbClr val="6B6B6B"/>
                </a:solidFill>
                <a:latin typeface="Inter"/>
              </a:rPr>
              <a:t>If something is missing, it </a:t>
            </a:r>
            <a:r>
              <a:rPr sz="2000" b="1">
                <a:solidFill>
                  <a:srgbClr val="6B6B6B"/>
                </a:solidFill>
                <a:latin typeface="Inter"/>
              </a:rPr>
              <a:t>tells you what to fix</a:t>
            </a:r>
            <a:r>
              <a:rPr sz="2000" b="0">
                <a:solidFill>
                  <a:srgbClr val="6B6B6B"/>
                </a:solidFill>
                <a:latin typeface="Inter"/>
              </a:rPr>
              <a:t>.</a:t>
            </a:r>
          </a:p>
        </p:txBody>
      </p:sp>
      <p:pic>
        <p:nvPicPr>
          <p:cNvPr id="6" name="Picture 5" descr="quote-560-180-760-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592906" cy="53949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592906" cy="5394959"/>
          </a:xfrm>
          <a:prstGeom prst="roundRect">
            <a:avLst>
              <a:gd name="adj" fmla="val 1016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56226" y="1356698"/>
            <a:ext cx="2497666" cy="719328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7618" y="1506050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7618" y="1506050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Click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Click Open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That's the quote. </a:t>
            </a:r>
            <a:r>
              <a:rPr sz="2000" b="1">
                <a:solidFill>
                  <a:srgbClr val="6B6B6B"/>
                </a:solidFill>
                <a:latin typeface="Inter"/>
              </a:rPr>
              <a:t>Send it to the client.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0">
                <a:solidFill>
                  <a:srgbClr val="6B6B6B"/>
                </a:solidFill>
                <a:latin typeface="Inter"/>
              </a:rPr>
              <a:t>Need to change a word? Click </a:t>
            </a:r>
            <a:r>
              <a:rPr sz="2000" b="1">
                <a:solidFill>
                  <a:srgbClr val="6B6B6B"/>
                </a:solidFill>
                <a:latin typeface="Inter"/>
              </a:rPr>
              <a:t>Edit as Google Doc</a:t>
            </a:r>
            <a:r>
              <a:rPr sz="2000" b="0">
                <a:solidFill>
                  <a:srgbClr val="6B6B6B"/>
                </a:solidFill>
                <a:latin typeface="Inter"/>
              </a:rPr>
              <a:t>.</a:t>
            </a:r>
          </a:p>
        </p:txBody>
      </p:sp>
      <p:pic>
        <p:nvPicPr>
          <p:cNvPr id="6" name="Picture 5" descr="done-380-160-900-6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35240" cy="5259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35240" cy="5259831"/>
          </a:xfrm>
          <a:prstGeom prst="roundRect">
            <a:avLst>
              <a:gd name="adj" fmla="val 1043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57239" y="3097504"/>
            <a:ext cx="770947" cy="313893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08273" y="3484549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8273" y="3484549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Click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601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Your PDF looks like this.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Inter"/>
              </a:rPr>
              <a:t>One page. Letter size.</a:t>
            </a:r>
          </a:p>
          <a:p>
            <a:pPr algn="l">
              <a:lnSpc>
                <a:spcPct val="120000"/>
              </a:lnSpc>
              <a:spcBef>
                <a:spcPts val="1080"/>
              </a:spcBef>
            </a:pPr>
            <a:r>
              <a:rPr sz="1800" b="0">
                <a:solidFill>
                  <a:srgbClr val="6B6B6B"/>
                </a:solidFill>
                <a:latin typeface="Inter"/>
              </a:rPr>
              <a:t>The package, the price, and </a:t>
            </a:r>
            <a:r>
              <a:rPr sz="1800" b="1">
                <a:solidFill>
                  <a:srgbClr val="6B6B6B"/>
                </a:solidFill>
                <a:latin typeface="Inter"/>
              </a:rPr>
              <a:t>nothing extra</a:t>
            </a:r>
            <a:r>
              <a:rPr sz="1800" b="0">
                <a:solidFill>
                  <a:srgbClr val="6B6B6B"/>
                </a:solidFill>
                <a:latin typeface="Inter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1080"/>
              </a:spcBef>
            </a:pPr>
            <a:r>
              <a:rPr sz="1800" b="0">
                <a:solidFill>
                  <a:srgbClr val="6B6B6B"/>
                </a:solidFill>
                <a:latin typeface="Inter"/>
              </a:rPr>
              <a:t>Ready to print or email.</a:t>
            </a:r>
          </a:p>
        </p:txBody>
      </p:sp>
      <p:pic>
        <p:nvPicPr>
          <p:cNvPr id="4" name="Picture 3" descr="onep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502920"/>
            <a:ext cx="4522124" cy="5852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52160" y="502920"/>
            <a:ext cx="4522123" cy="5852160"/>
          </a:xfrm>
          <a:prstGeom prst="roundRect">
            <a:avLst>
              <a:gd name="adj" fmla="val 808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956816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WHERE FILES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Where your files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Every PDF is saved in the </a:t>
            </a:r>
            <a:r>
              <a:rPr sz="2000" b="1">
                <a:solidFill>
                  <a:srgbClr val="6B6B6B"/>
                </a:solidFill>
                <a:latin typeface="Inter"/>
              </a:rPr>
              <a:t>Helix Quotes</a:t>
            </a:r>
            <a:r>
              <a:rPr sz="2000" b="0">
                <a:solidFill>
                  <a:srgbClr val="6B6B6B"/>
                </a:solidFill>
                <a:latin typeface="Inter"/>
              </a:rPr>
              <a:t> folder in Google Drive.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0">
                <a:solidFill>
                  <a:srgbClr val="6B6B6B"/>
                </a:solidFill>
                <a:latin typeface="Inter"/>
              </a:rPr>
              <a:t>The </a:t>
            </a:r>
            <a:r>
              <a:rPr sz="2000" b="1">
                <a:solidFill>
                  <a:srgbClr val="6B6B6B"/>
                </a:solidFill>
                <a:latin typeface="Inter"/>
              </a:rPr>
              <a:t>Log</a:t>
            </a:r>
            <a:r>
              <a:rPr sz="2000" b="0">
                <a:solidFill>
                  <a:srgbClr val="6B6B6B"/>
                </a:solidFill>
                <a:latin typeface="Inter"/>
              </a:rPr>
              <a:t> tab lists every quote, with links.</a:t>
            </a:r>
          </a:p>
        </p:txBody>
      </p:sp>
      <p:pic>
        <p:nvPicPr>
          <p:cNvPr id="6" name="Picture 5" descr="log-0-180-800-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35240" cy="53446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35240" cy="5344668"/>
          </a:xfrm>
          <a:prstGeom prst="roundRect">
            <a:avLst>
              <a:gd name="adj" fmla="val 1026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08877" y="1316478"/>
            <a:ext cx="2004250" cy="477202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76563" y="1866833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6563" y="1866833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Every quote, saved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IF IT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It says “Fix these first.”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That means a blue cell is empty or wrong.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1">
                <a:solidFill>
                  <a:srgbClr val="6B6B6B"/>
                </a:solidFill>
                <a:latin typeface="Inter"/>
              </a:rPr>
              <a:t>Read the list. </a:t>
            </a:r>
            <a:r>
              <a:rPr sz="2000" b="0">
                <a:solidFill>
                  <a:srgbClr val="6B6B6B"/>
                </a:solidFill>
                <a:latin typeface="Inter"/>
              </a:rPr>
              <a:t>Fix those cells. Click </a:t>
            </a:r>
            <a:r>
              <a:rPr sz="2000" b="1">
                <a:solidFill>
                  <a:srgbClr val="6B6B6B"/>
                </a:solidFill>
                <a:latin typeface="Inter"/>
              </a:rPr>
              <a:t>Make PDF</a:t>
            </a:r>
            <a:r>
              <a:rPr sz="2000" b="0">
                <a:solidFill>
                  <a:srgbClr val="6B6B6B"/>
                </a:solidFill>
                <a:latin typeface="Inter"/>
              </a:rPr>
              <a:t> again.</a:t>
            </a:r>
          </a:p>
        </p:txBody>
      </p:sp>
      <p:pic>
        <p:nvPicPr>
          <p:cNvPr id="6" name="Picture 5" descr="fix-380-150-900-6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35240" cy="5259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35240" cy="5259831"/>
          </a:xfrm>
          <a:prstGeom prst="roundRect">
            <a:avLst>
              <a:gd name="adj" fmla="val 1043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33060" y="1795272"/>
            <a:ext cx="4581144" cy="1874875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9191" y="1292352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9191" y="1292352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Read this 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Change a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B6B6B"/>
                </a:solidFill>
                <a:latin typeface="Inter"/>
              </a:rPr>
              <a:t>Go to the </a:t>
            </a:r>
            <a:r>
              <a:rPr sz="2000" b="1">
                <a:solidFill>
                  <a:srgbClr val="6B6B6B"/>
                </a:solidFill>
                <a:latin typeface="Inter"/>
              </a:rPr>
              <a:t>Packages</a:t>
            </a:r>
            <a:r>
              <a:rPr sz="2000" b="0">
                <a:solidFill>
                  <a:srgbClr val="6B6B6B"/>
                </a:solidFill>
                <a:latin typeface="Inter"/>
              </a:rPr>
              <a:t> tab. Type the new price.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000" b="1">
                <a:solidFill>
                  <a:srgbClr val="6B6B6B"/>
                </a:solidFill>
                <a:latin typeface="Inter"/>
              </a:rPr>
              <a:t>Red rows</a:t>
            </a:r>
            <a:r>
              <a:rPr sz="2000" b="0">
                <a:solidFill>
                  <a:srgbClr val="6B6B6B"/>
                </a:solidFill>
                <a:latin typeface="Inter"/>
              </a:rPr>
              <a:t> have fake prices. Put the real price in, then delete the word PLACEHOLDER.</a:t>
            </a:r>
          </a:p>
        </p:txBody>
      </p:sp>
      <p:pic>
        <p:nvPicPr>
          <p:cNvPr id="6" name="Picture 5" descr="packages-500-180-960-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35240" cy="5090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35240" cy="5090160"/>
          </a:xfrm>
          <a:prstGeom prst="roundRect">
            <a:avLst>
              <a:gd name="adj" fmla="val 1077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47971" y="2896814"/>
            <a:ext cx="1193006" cy="397668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81910" y="2896814"/>
            <a:ext cx="2067877" cy="397668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1409" y="3367635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1409" y="3367635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Fake price: fix these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71717"/>
                </a:solidFill>
                <a:latin typeface="Inter"/>
              </a:rPr>
              <a:t>Three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65960"/>
            <a:ext cx="10515600" cy="1143000"/>
          </a:xfrm>
          <a:prstGeom prst="roundRect">
            <a:avLst>
              <a:gd name="adj" fmla="val 1439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67128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96CF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148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71717"/>
                </a:solidFill>
                <a:latin typeface="Inter"/>
              </a:rPr>
              <a:t>Only type in blue cells.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5877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B6B"/>
                </a:solidFill>
                <a:latin typeface="Inter"/>
              </a:rPr>
              <a:t>Everything else fills itself 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10515600" cy="1143000"/>
          </a:xfrm>
          <a:prstGeom prst="roundRect">
            <a:avLst>
              <a:gd name="adj" fmla="val 1439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38728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96CF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71717"/>
                </a:solidFill>
                <a:latin typeface="Inter"/>
              </a:rPr>
              <a:t>Red rows are fake prices.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959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B6B"/>
                </a:solidFill>
                <a:latin typeface="Inter"/>
              </a:rPr>
              <a:t>Fix them before quoting that package.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15600" cy="1143000"/>
          </a:xfrm>
          <a:prstGeom prst="roundRect">
            <a:avLst>
              <a:gd name="adj" fmla="val 1439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910328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96CF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8920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71717"/>
                </a:solidFill>
                <a:latin typeface="Inter"/>
              </a:rPr>
              <a:t>Use a computer.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3309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6B6B"/>
                </a:solidFill>
                <a:latin typeface="Inter"/>
              </a:rPr>
              <a:t>The buttons don't work in the phone app. Use the Quotes menu there.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886968" cy="457200"/>
          </a:xfrm>
          <a:prstGeom prst="roundRect">
            <a:avLst>
              <a:gd name="adj" fmla="val 50000"/>
            </a:avLst>
          </a:prstGeom>
          <a:solidFill>
            <a:srgbClr val="00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86968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1717"/>
                </a:solidFill>
                <a:latin typeface="Inter"/>
              </a:rPr>
              <a:t>One-time setup.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B6B6B"/>
                </a:solidFill>
                <a:latin typeface="Inter"/>
              </a:rPr>
              <a:t>Only do this once.</a:t>
            </a:r>
          </a:p>
          <a:p>
            <a:pPr algn="l">
              <a:lnSpc>
                <a:spcPct val="120000"/>
              </a:lnSpc>
              <a:spcBef>
                <a:spcPts val="1019"/>
              </a:spcBef>
            </a:pPr>
            <a:r>
              <a:rPr sz="1700" b="0">
                <a:solidFill>
                  <a:srgbClr val="6B6B6B"/>
                </a:solidFill>
                <a:latin typeface="Inter"/>
              </a:rPr>
              <a:t>1. Make a blank Google Sheet.</a:t>
            </a:r>
          </a:p>
          <a:p>
            <a:pPr algn="l">
              <a:lnSpc>
                <a:spcPct val="120000"/>
              </a:lnSpc>
              <a:spcBef>
                <a:spcPts val="1019"/>
              </a:spcBef>
            </a:pPr>
            <a:r>
              <a:rPr sz="1700" b="0">
                <a:solidFill>
                  <a:srgbClr val="6B6B6B"/>
                </a:solidFill>
                <a:latin typeface="Inter"/>
              </a:rPr>
              <a:t>2. </a:t>
            </a:r>
            <a:r>
              <a:rPr sz="1700" b="1">
                <a:solidFill>
                  <a:srgbClr val="6B6B6B"/>
                </a:solidFill>
                <a:latin typeface="Inter"/>
              </a:rPr>
              <a:t>Extensions › Apps Script</a:t>
            </a:r>
            <a:r>
              <a:rPr sz="1700" b="0">
                <a:solidFill>
                  <a:srgbClr val="6B6B6B"/>
                </a:solidFill>
                <a:latin typeface="Inter"/>
              </a:rPr>
              <a:t>. Paste the script. Save.</a:t>
            </a:r>
          </a:p>
          <a:p>
            <a:pPr algn="l">
              <a:lnSpc>
                <a:spcPct val="120000"/>
              </a:lnSpc>
              <a:spcBef>
                <a:spcPts val="1019"/>
              </a:spcBef>
            </a:pPr>
            <a:r>
              <a:rPr sz="1700" b="0">
                <a:solidFill>
                  <a:srgbClr val="6B6B6B"/>
                </a:solidFill>
                <a:latin typeface="Inter"/>
              </a:rPr>
              <a:t>3. Reload the sheet.</a:t>
            </a:r>
          </a:p>
          <a:p>
            <a:pPr algn="l">
              <a:lnSpc>
                <a:spcPct val="120000"/>
              </a:lnSpc>
              <a:spcBef>
                <a:spcPts val="1019"/>
              </a:spcBef>
            </a:pPr>
            <a:r>
              <a:rPr sz="1700" b="0">
                <a:solidFill>
                  <a:srgbClr val="6B6B6B"/>
                </a:solidFill>
                <a:latin typeface="Inter"/>
              </a:rPr>
              <a:t>4. </a:t>
            </a:r>
            <a:r>
              <a:rPr sz="1700" b="1">
                <a:solidFill>
                  <a:srgbClr val="6B6B6B"/>
                </a:solidFill>
                <a:latin typeface="Inter"/>
              </a:rPr>
              <a:t>Quotes › Set up sheet</a:t>
            </a:r>
            <a:r>
              <a:rPr sz="1700" b="0">
                <a:solidFill>
                  <a:srgbClr val="6B6B6B"/>
                </a:solidFill>
                <a:latin typeface="Inter"/>
              </a:rPr>
              <a:t>. Click Allow.</a:t>
            </a:r>
          </a:p>
          <a:p>
            <a:pPr algn="l">
              <a:lnSpc>
                <a:spcPct val="120000"/>
              </a:lnSpc>
              <a:spcBef>
                <a:spcPts val="1019"/>
              </a:spcBef>
            </a:pPr>
            <a:r>
              <a:rPr sz="1700" b="0">
                <a:solidFill>
                  <a:srgbClr val="6B6B6B"/>
                </a:solidFill>
                <a:latin typeface="Inter"/>
              </a:rPr>
              <a:t>5. Share it with the sales team.</a:t>
            </a:r>
          </a:p>
        </p:txBody>
      </p:sp>
      <p:pic>
        <p:nvPicPr>
          <p:cNvPr id="6" name="Picture 5" descr="menu-300-0-820-5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7627357" cy="5394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777240"/>
            <a:ext cx="7627357" cy="5394960"/>
          </a:xfrm>
          <a:prstGeom prst="roundRect">
            <a:avLst>
              <a:gd name="adj" fmla="val 1016"/>
            </a:avLst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0066" y="2442236"/>
            <a:ext cx="2325413" cy="511591"/>
          </a:xfrm>
          <a:prstGeom prst="ellipse">
            <a:avLst/>
          </a:prstGeom>
          <a:noFill/>
          <a:ln w="5715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58333" y="3026979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8333" y="3026979"/>
            <a:ext cx="24688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Click once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