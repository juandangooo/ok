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>
                <a:solidFill>
                  <a:srgbClr val="6B6B6B"/>
                </a:solidFill>
                <a:latin typeface="Inter"/>
              </a:rPr>
              <a:t>368 EVENT MANAGEMENT  ×  HELLHOUND AUDIO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4572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750" b="0">
                <a:solidFill>
                  <a:srgbClr val="6B6B6B"/>
                </a:solidFill>
                <a:latin typeface="Inter"/>
              </a:rPr>
              <a:t>Prepared for Acme Corp  ·  Nov 12,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800" b="1">
                <a:solidFill>
                  <a:srgbClr val="0096CF"/>
                </a:solidFill>
                <a:latin typeface="Inter"/>
              </a:rPr>
              <a:t>Executive Zoom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>
                <a:solidFill>
                  <a:srgbClr val="171717"/>
                </a:solidFill>
                <a:latin typeface="Inter"/>
              </a:rPr>
              <a:t>Your call just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10312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71717"/>
                </a:solidFill>
                <a:latin typeface="Inter"/>
              </a:rPr>
              <a:t>1,000+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24912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events produced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94560"/>
            <a:ext cx="210312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35808" y="233172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71717"/>
                </a:solidFill>
                <a:latin typeface="Inter"/>
              </a:rPr>
              <a:t>24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24912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of testing before every show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94560"/>
            <a:ext cx="210312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21807" y="233172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71717"/>
                </a:solidFill>
                <a:latin typeface="Inter"/>
              </a:rPr>
              <a:t>2×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7" y="2724912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backup on every critical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171717"/>
                </a:solidFill>
                <a:latin typeface="Inter"/>
              </a:rPr>
              <a:t>What’s included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3246120" cy="109728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171717"/>
                </a:solidFill>
                <a:latin typeface="Inter"/>
              </a:rPr>
              <a:t>Sound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33087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Wireless mics, spares, live mixing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98264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71717"/>
                </a:solidFill>
                <a:latin typeface="Inter"/>
              </a:rPr>
              <a:t>$2,000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703320"/>
            <a:ext cx="3246120" cy="109728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06240" y="388620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171717"/>
                </a:solidFill>
                <a:latin typeface="Inter"/>
              </a:rPr>
              <a:t>Video &amp; Computers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33087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Backup computer, cameras, wired 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398264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71717"/>
                </a:solidFill>
                <a:latin typeface="Inter"/>
              </a:rPr>
              <a:t>$2,500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83479"/>
            <a:ext cx="3246120" cy="109728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16635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171717"/>
                </a:solidFill>
                <a:latin typeface="Inter"/>
              </a:rPr>
              <a:t>Screens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13247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Displays for the 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78423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71717"/>
                </a:solidFill>
                <a:latin typeface="Inter"/>
              </a:rPr>
              <a:t>$900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4983479"/>
            <a:ext cx="3246120" cy="109728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06240" y="516635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171717"/>
                </a:solidFill>
                <a:latin typeface="Inter"/>
              </a:rPr>
              <a:t>Crew &amp; Rehearsal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13247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Lead engineer, call operator, rehearsal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678423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71717"/>
                </a:solidFill>
                <a:latin typeface="Inter"/>
              </a:rPr>
              <a:t>$3,900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171717"/>
                </a:solidFill>
                <a:latin typeface="Inter"/>
              </a:rPr>
              <a:t>Standard on every show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629400"/>
            <a:ext cx="66751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6793992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>
                <a:solidFill>
                  <a:srgbClr val="0096CF"/>
                </a:solidFill>
                <a:latin typeface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6793992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>
                <a:solidFill>
                  <a:srgbClr val="171717"/>
                </a:solidFill>
                <a:latin typeface="Inter"/>
              </a:rPr>
              <a:t>Backup computer, running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7040879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>
                <a:solidFill>
                  <a:srgbClr val="0096CF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7040879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>
                <a:solidFill>
                  <a:srgbClr val="171717"/>
                </a:solidFill>
                <a:latin typeface="Inter"/>
              </a:rPr>
              <a:t>Wired internet with cellular backup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7287768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>
                <a:solidFill>
                  <a:srgbClr val="0096CF"/>
                </a:solidFill>
                <a:latin typeface="Inter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7287768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>
                <a:solidFill>
                  <a:srgbClr val="171717"/>
                </a:solidFill>
                <a:latin typeface="Inter"/>
              </a:rPr>
              <a:t>A mic for every speaker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6793992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>
                <a:solidFill>
                  <a:srgbClr val="0096CF"/>
                </a:solidFill>
                <a:latin typeface="Inter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6793992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>
                <a:solidFill>
                  <a:srgbClr val="171717"/>
                </a:solidFill>
                <a:latin typeface="Inter"/>
              </a:rPr>
              <a:t>Lead engineer on 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7040879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>
                <a:solidFill>
                  <a:srgbClr val="0096CF"/>
                </a:solidFill>
                <a:latin typeface="Inter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7040879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>
                <a:solidFill>
                  <a:srgbClr val="171717"/>
                </a:solidFill>
                <a:latin typeface="Inter"/>
              </a:rPr>
              <a:t>Full rehearsal the day before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7287768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>
                <a:solidFill>
                  <a:srgbClr val="0096CF"/>
                </a:solidFill>
                <a:latin typeface="Inter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7287768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>
                <a:solidFill>
                  <a:srgbClr val="171717"/>
                </a:solidFill>
                <a:latin typeface="Inter"/>
              </a:rPr>
              <a:t>Delivery, setup, and teardown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7863840"/>
            <a:ext cx="66751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804671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>
                <a:solidFill>
                  <a:srgbClr val="6B6B6B"/>
                </a:solidFill>
                <a:latin typeface="Inter"/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8229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71717"/>
                </a:solidFill>
                <a:latin typeface="Inter"/>
              </a:rPr>
              <a:t>$9,300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60" y="80924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00" b="0">
                <a:solidFill>
                  <a:srgbClr val="6B6B6B"/>
                </a:solidFill>
                <a:latin typeface="Inter"/>
              </a:rPr>
              <a:t>Your name</a:t>
            </a:r>
          </a:p>
          <a:p>
            <a:pPr algn="r"/>
            <a:r>
              <a:rPr sz="900" b="0">
                <a:solidFill>
                  <a:srgbClr val="6B6B6B"/>
                </a:solidFill>
                <a:latin typeface="Inter"/>
              </a:rPr>
              <a:t>you@company.com</a:t>
            </a:r>
          </a:p>
          <a:p>
            <a:pPr algn="r"/>
            <a:r>
              <a:rPr sz="900" b="0">
                <a:solidFill>
                  <a:srgbClr val="6B6B6B"/>
                </a:solidFill>
                <a:latin typeface="Inter"/>
              </a:rPr>
              <a:t>(555) 555-5555</a:t>
            </a:r>
          </a:p>
        </p:txBody>
      </p:sp>
      <p:pic>
        <p:nvPicPr>
          <p:cNvPr id="51" name="Picture 50" descr="368e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052560"/>
            <a:ext cx="566928" cy="566928"/>
          </a:xfrm>
          <a:prstGeom prst="rect">
            <a:avLst/>
          </a:prstGeom>
        </p:spPr>
      </p:pic>
      <p:pic>
        <p:nvPicPr>
          <p:cNvPr id="52" name="Picture 51" descr="hellhoun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9070848"/>
            <a:ext cx="178308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>
                <a:solidFill>
                  <a:srgbClr val="6B6B6B"/>
                </a:solidFill>
                <a:latin typeface="Inter"/>
              </a:rPr>
              <a:t>368 EVENT MANAGEMENT  ×  HELLHOUND AUDIO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4572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750" b="0">
                <a:solidFill>
                  <a:srgbClr val="6B6B6B"/>
                </a:solidFill>
                <a:latin typeface="Inter"/>
              </a:rPr>
              <a:t>Prepared for Acme Corp  ·  Nov 12,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171717"/>
                </a:solidFill>
                <a:latin typeface="Inter"/>
              </a:rPr>
              <a:t>Line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6B6B6B"/>
                </a:solidFill>
                <a:latin typeface="Inter"/>
              </a:rPr>
              <a:t>Q4 Leadership Town Hall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675120" cy="425196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1">
                <a:solidFill>
                  <a:srgbClr val="A3A3A3"/>
                </a:solidFill>
                <a:latin typeface="Inter"/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57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1">
                <a:solidFill>
                  <a:srgbClr val="A3A3A3"/>
                </a:solidFill>
                <a:latin typeface="Inter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057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1">
                <a:solidFill>
                  <a:srgbClr val="A3A3A3"/>
                </a:solidFill>
                <a:latin typeface="Inter"/>
              </a:rPr>
              <a:t>QTY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2057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1">
                <a:solidFill>
                  <a:srgbClr val="A3A3A3"/>
                </a:solidFill>
                <a:latin typeface="Inter"/>
              </a:rPr>
              <a:t>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5740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700" b="1">
                <a:solidFill>
                  <a:srgbClr val="A3A3A3"/>
                </a:solidFill>
                <a:latin typeface="Inter"/>
              </a:rPr>
              <a:t>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05740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700" b="1">
                <a:solidFill>
                  <a:srgbClr val="A3A3A3"/>
                </a:solidFill>
                <a:latin typeface="Inter"/>
              </a:rPr>
              <a:t>SUBTOTAL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>
                <a:solidFill>
                  <a:srgbClr val="0096CF"/>
                </a:solidFill>
                <a:latin typeface="Inter"/>
              </a:rPr>
              <a:t>SOUND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Executive Mic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6060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Wireless mic per speaker, plus spares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6060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6060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6060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$1,200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060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$1,200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880359"/>
            <a:ext cx="6217920" cy="9525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88035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Live Audio Mixing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88035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Live mixing for room and remote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88035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88035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88035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88035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1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>
                <a:solidFill>
                  <a:srgbClr val="0096CF"/>
                </a:solidFill>
                <a:latin typeface="Inter"/>
              </a:rPr>
              <a:t>VIDEO &amp; COMPUTERS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2899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Show Computer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42899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Primary and backup show computers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342899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59" y="342899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42899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$900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4289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$900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703319"/>
            <a:ext cx="6217920" cy="9525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70331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Camera &amp; Lighting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70331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Cameras and lighting for speakers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370331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59" y="370331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7033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$1,100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0331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$1,100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3977639"/>
            <a:ext cx="6217920" cy="9525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9776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Dedicated Internet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9776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Wired line with cellular backup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9776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39776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9776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9776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325111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>
                <a:solidFill>
                  <a:srgbClr val="0096CF"/>
                </a:solidFill>
                <a:latin typeface="Inter"/>
              </a:rPr>
              <a:t>SCREENS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52627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Display Package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52627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Display, stand, and cabling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79" y="45262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59" y="45262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452627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$450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52627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$900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873751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>
                <a:solidFill>
                  <a:srgbClr val="0096CF"/>
                </a:solidFill>
                <a:latin typeface="Inter"/>
              </a:rPr>
              <a:t>CREW &amp; REHEARSAL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07491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Lead Engineer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0" y="507491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Runs the show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79" y="507491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359" y="507491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50749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$1,400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507491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$1,400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" y="5349239"/>
            <a:ext cx="6217920" cy="9525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3492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Call Operator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20" y="53492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Runs Zoom: guests, shares, recording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79" y="53492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59" y="53492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53492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$1,000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53492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$1,000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" y="5623559"/>
            <a:ext cx="6217920" cy="9525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562355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>
                <a:solidFill>
                  <a:srgbClr val="171717"/>
                </a:solidFill>
                <a:latin typeface="Inter"/>
              </a:rPr>
              <a:t>Setup &amp; Rehearsal 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0" y="562355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>
                <a:solidFill>
                  <a:srgbClr val="6B6B6B"/>
                </a:solidFill>
                <a:latin typeface="Inter"/>
              </a:rPr>
              <a:t>Build and full test, day before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79" y="562355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66359" y="562355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b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77840" y="562355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6B6B6B"/>
                </a:solidFill>
                <a:latin typeface="Inter"/>
              </a:rPr>
              <a:t>$1,500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62355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1">
                <a:solidFill>
                  <a:srgbClr val="171717"/>
                </a:solidFill>
                <a:latin typeface="Inter"/>
              </a:rPr>
              <a:t>$1,500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480560" y="6309360"/>
            <a:ext cx="2743200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709160" y="647395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>
                <a:solidFill>
                  <a:srgbClr val="6B6B6B"/>
                </a:solidFill>
                <a:latin typeface="Inter"/>
              </a:rPr>
              <a:t>Subtotal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647395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171717"/>
                </a:solidFill>
                <a:latin typeface="Inter"/>
              </a:rPr>
              <a:t>$9,300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672998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>
                <a:solidFill>
                  <a:srgbClr val="6B6B6B"/>
                </a:solidFill>
                <a:latin typeface="Inter"/>
              </a:rPr>
              <a:t>Tax (0.0%)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672998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>
                <a:solidFill>
                  <a:srgbClr val="171717"/>
                </a:solidFill>
                <a:latin typeface="Inter"/>
              </a:rPr>
              <a:t>$0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60" y="698601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>
                <a:solidFill>
                  <a:srgbClr val="171717"/>
                </a:solidFill>
                <a:latin typeface="Inter"/>
              </a:rPr>
              <a:t>Total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0" y="69860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1">
                <a:solidFill>
                  <a:srgbClr val="171717"/>
                </a:solidFill>
                <a:latin typeface="Inter"/>
              </a:rPr>
              <a:t>$9,300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09160" y="6976872"/>
            <a:ext cx="2286000" cy="952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48640" y="7635240"/>
            <a:ext cx="667512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 w="6350">
            <a:solidFill>
              <a:srgbClr val="ECEAE5"/>
            </a:solidFill>
          </a:ln>
          <a:effectLst>
            <a:outerShdw blurRad="127000" dist="19050" dir="5400000" algn="t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777240" y="781811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>
                <a:solidFill>
                  <a:srgbClr val="171717"/>
                </a:solidFill>
                <a:latin typeface="Inter"/>
              </a:rPr>
              <a:t>Notes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" y="8046719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>
                <a:solidFill>
                  <a:srgbClr val="6B6B6B"/>
                </a:solidFill>
                <a:latin typeface="Inter"/>
              </a:rPr>
              <a:t>Load-in begins 7:00 AM. Final rehearsal with speakers at 2:00 PM the day before.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9418320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50" b="0">
                <a:solidFill>
                  <a:srgbClr val="A3A3A3"/>
                </a:solidFill>
                <a:latin typeface="Inter"/>
              </a:rPr>
              <a:t>368 Event Management  ×  Hellhound Audio  ·  hellhoundaudio.com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