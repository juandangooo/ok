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6B6B6B"/>
                </a:solidFill>
                <a:latin typeface="Inter"/>
              </a:rPr>
              <a:t>368 EVENT MANAGEMENT  ×  HELLHOUND 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548640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B6B6B"/>
                </a:solidFill>
                <a:latin typeface="Inter"/>
              </a:rPr>
              <a:t>Prepared for Helix  ·  Quote 0625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40080" y="78638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096CF"/>
                </a:solidFill>
                <a:latin typeface="Inter"/>
              </a:rPr>
              <a:t>HELIX · OCTOBER 22, 2026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40080" y="9144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71717"/>
                </a:solidFill>
                <a:latin typeface="Inter"/>
              </a:rPr>
              <a:t>Your Zoom</a:t>
            </a:r>
          </a:p>
          <a:p>
            <a:pPr algn="l">
              <a:lnSpc>
                <a:spcPct val="100000"/>
              </a:lnSpc>
            </a:pPr>
            <a:r>
              <a:rPr sz="3800" b="1">
                <a:solidFill>
                  <a:srgbClr val="171717"/>
                </a:solidFill>
                <a:latin typeface="Inter"/>
              </a:rPr>
              <a:t>Call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1717"/>
                </a:solidFill>
                <a:latin typeface="Inter"/>
              </a:rPr>
              <a:t>What’s in the package</a:t>
            </a:r>
          </a:p>
        </p:txBody>
      </p:sp>
      <p:sp>
        <p:nvSpPr>
          <p:cNvPr id="7" name="Rule"/>
          <p:cNvSpPr/>
          <p:nvPr/>
        </p:nvSpPr>
        <p:spPr>
          <a:xfrm>
            <a:off x="640080" y="2651760"/>
            <a:ext cx="649224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rew name"/>
          <p:cNvSpPr txBox="1"/>
          <p:nvPr/>
        </p:nvSpPr>
        <p:spPr>
          <a:xfrm>
            <a:off x="640080" y="27706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Inter"/>
              </a:rPr>
              <a:t>Crew</a:t>
            </a:r>
          </a:p>
        </p:txBody>
      </p:sp>
      <p:sp>
        <p:nvSpPr>
          <p:cNvPr id="9" name="Crew description"/>
          <p:cNvSpPr txBox="1"/>
          <p:nvPr/>
        </p:nvSpPr>
        <p:spPr>
          <a:xfrm>
            <a:off x="640080" y="296265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Senior audio technician (A1), video technician (V1)</a:t>
            </a:r>
          </a:p>
        </p:txBody>
      </p:sp>
      <p:sp>
        <p:nvSpPr>
          <p:cNvPr id="10" name="Crew price"/>
          <p:cNvSpPr txBox="1"/>
          <p:nvPr/>
        </p:nvSpPr>
        <p:spPr>
          <a:xfrm>
            <a:off x="5669279" y="2651760"/>
            <a:ext cx="1463040" cy="5257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71717"/>
                </a:solidFill>
                <a:latin typeface="Inter"/>
              </a:rPr>
              <a:t>$1,200</a:t>
            </a:r>
          </a:p>
        </p:txBody>
      </p:sp>
      <p:sp>
        <p:nvSpPr>
          <p:cNvPr id="11" name="Rule"/>
          <p:cNvSpPr/>
          <p:nvPr/>
        </p:nvSpPr>
        <p:spPr>
          <a:xfrm>
            <a:off x="640080" y="3177539"/>
            <a:ext cx="649224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deo name"/>
          <p:cNvSpPr txBox="1"/>
          <p:nvPr/>
        </p:nvSpPr>
        <p:spPr>
          <a:xfrm>
            <a:off x="640080" y="3296411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Inter"/>
              </a:rPr>
              <a:t>Video</a:t>
            </a:r>
          </a:p>
        </p:txBody>
      </p:sp>
      <p:sp>
        <p:nvSpPr>
          <p:cNvPr id="13" name="Video description"/>
          <p:cNvSpPr txBox="1"/>
          <p:nvPr/>
        </p:nvSpPr>
        <p:spPr>
          <a:xfrm>
            <a:off x="640080" y="3488435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BirdDog X5 Ultra PTZ camera, Roland V-02HD MK II mixer, MacBook Air M2</a:t>
            </a:r>
          </a:p>
        </p:txBody>
      </p:sp>
      <p:sp>
        <p:nvSpPr>
          <p:cNvPr id="14" name="Video price"/>
          <p:cNvSpPr txBox="1"/>
          <p:nvPr/>
        </p:nvSpPr>
        <p:spPr>
          <a:xfrm>
            <a:off x="5669279" y="3177539"/>
            <a:ext cx="1463040" cy="5257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71717"/>
                </a:solidFill>
                <a:latin typeface="Inter"/>
              </a:rPr>
              <a:t>$850</a:t>
            </a:r>
          </a:p>
        </p:txBody>
      </p:sp>
      <p:sp>
        <p:nvSpPr>
          <p:cNvPr id="15" name="Rule"/>
          <p:cNvSpPr/>
          <p:nvPr/>
        </p:nvSpPr>
        <p:spPr>
          <a:xfrm>
            <a:off x="640080" y="3703320"/>
            <a:ext cx="649224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udio name"/>
          <p:cNvSpPr txBox="1"/>
          <p:nvPr/>
        </p:nvSpPr>
        <p:spPr>
          <a:xfrm>
            <a:off x="640080" y="3822191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Inter"/>
              </a:rPr>
              <a:t>Audio</a:t>
            </a:r>
          </a:p>
        </p:txBody>
      </p:sp>
      <p:sp>
        <p:nvSpPr>
          <p:cNvPr id="17" name="Audio description"/>
          <p:cNvSpPr txBox="1"/>
          <p:nvPr/>
        </p:nvSpPr>
        <p:spPr>
          <a:xfrm>
            <a:off x="640080" y="4014215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Focusrite Scarlett 2i2, Radial direct boxes, iPad</a:t>
            </a:r>
          </a:p>
        </p:txBody>
      </p:sp>
      <p:sp>
        <p:nvSpPr>
          <p:cNvPr id="18" name="Audio price"/>
          <p:cNvSpPr txBox="1"/>
          <p:nvPr/>
        </p:nvSpPr>
        <p:spPr>
          <a:xfrm>
            <a:off x="5669279" y="3703320"/>
            <a:ext cx="1463040" cy="5257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71717"/>
                </a:solidFill>
                <a:latin typeface="Inter"/>
              </a:rPr>
              <a:t>$600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1717"/>
                </a:solidFill>
                <a:latin typeface="Inter"/>
              </a:rPr>
              <a:t>Also in this quote</a:t>
            </a:r>
          </a:p>
        </p:txBody>
      </p:sp>
      <p:sp>
        <p:nvSpPr>
          <p:cNvPr id="20" name="Also 1"/>
          <p:cNvSpPr txBox="1"/>
          <p:nvPr/>
        </p:nvSpPr>
        <p:spPr>
          <a:xfrm>
            <a:off x="640080" y="5074920"/>
            <a:ext cx="31318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1717"/>
                </a:solidFill>
                <a:latin typeface="Inter"/>
              </a:rPr>
              <a:t>✓   Joystick camera controller</a:t>
            </a:r>
          </a:p>
        </p:txBody>
      </p:sp>
      <p:sp>
        <p:nvSpPr>
          <p:cNvPr id="21" name="Rule"/>
          <p:cNvSpPr/>
          <p:nvPr/>
        </p:nvSpPr>
        <p:spPr>
          <a:xfrm>
            <a:off x="640080" y="5321808"/>
            <a:ext cx="313182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lso 2"/>
          <p:cNvSpPr txBox="1"/>
          <p:nvPr/>
        </p:nvSpPr>
        <p:spPr>
          <a:xfrm>
            <a:off x="640080" y="5340096"/>
            <a:ext cx="31318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1717"/>
                </a:solidFill>
                <a:latin typeface="Inter"/>
              </a:rPr>
              <a:t>✓   SDI and HDMI cable package</a:t>
            </a:r>
          </a:p>
        </p:txBody>
      </p:sp>
      <p:sp>
        <p:nvSpPr>
          <p:cNvPr id="23" name="Rule"/>
          <p:cNvSpPr/>
          <p:nvPr/>
        </p:nvSpPr>
        <p:spPr>
          <a:xfrm>
            <a:off x="640080" y="5586983"/>
            <a:ext cx="313182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lso 3"/>
          <p:cNvSpPr txBox="1"/>
          <p:nvPr/>
        </p:nvSpPr>
        <p:spPr>
          <a:xfrm>
            <a:off x="640080" y="5605272"/>
            <a:ext cx="31318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1717"/>
                </a:solidFill>
                <a:latin typeface="Inter"/>
              </a:rPr>
              <a:t>✓   Remote pan, tilt, and zoom</a:t>
            </a:r>
          </a:p>
        </p:txBody>
      </p:sp>
      <p:sp>
        <p:nvSpPr>
          <p:cNvPr id="25" name="Rule"/>
          <p:cNvSpPr/>
          <p:nvPr/>
        </p:nvSpPr>
        <p:spPr>
          <a:xfrm>
            <a:off x="640080" y="5852160"/>
            <a:ext cx="313182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lso 4"/>
          <p:cNvSpPr txBox="1"/>
          <p:nvPr/>
        </p:nvSpPr>
        <p:spPr>
          <a:xfrm>
            <a:off x="4000500" y="5074920"/>
            <a:ext cx="31318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1717"/>
                </a:solidFill>
                <a:latin typeface="Inter"/>
              </a:rPr>
              <a:t>✓   4K camera monitor for the technician</a:t>
            </a:r>
          </a:p>
        </p:txBody>
      </p:sp>
      <p:sp>
        <p:nvSpPr>
          <p:cNvPr id="27" name="Rule"/>
          <p:cNvSpPr/>
          <p:nvPr/>
        </p:nvSpPr>
        <p:spPr>
          <a:xfrm>
            <a:off x="4000500" y="5321808"/>
            <a:ext cx="313182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lso 5"/>
          <p:cNvSpPr txBox="1"/>
          <p:nvPr/>
        </p:nvSpPr>
        <p:spPr>
          <a:xfrm>
            <a:off x="4000500" y="5340096"/>
            <a:ext cx="31318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1717"/>
                </a:solidFill>
                <a:latin typeface="Inter"/>
              </a:rPr>
              <a:t>✓   PoE+ network switch</a:t>
            </a:r>
          </a:p>
        </p:txBody>
      </p:sp>
      <p:sp>
        <p:nvSpPr>
          <p:cNvPr id="29" name="Rule"/>
          <p:cNvSpPr/>
          <p:nvPr/>
        </p:nvSpPr>
        <p:spPr>
          <a:xfrm>
            <a:off x="4000500" y="5586983"/>
            <a:ext cx="313182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lso 6"/>
          <p:cNvSpPr txBox="1"/>
          <p:nvPr/>
        </p:nvSpPr>
        <p:spPr>
          <a:xfrm>
            <a:off x="4000500" y="5605272"/>
            <a:ext cx="31318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1717"/>
                </a:solidFill>
                <a:latin typeface="Inter"/>
              </a:rPr>
              <a:t>✓   Camera tripods</a:t>
            </a:r>
          </a:p>
        </p:txBody>
      </p:sp>
      <p:sp>
        <p:nvSpPr>
          <p:cNvPr id="31" name="Rule"/>
          <p:cNvSpPr/>
          <p:nvPr/>
        </p:nvSpPr>
        <p:spPr>
          <a:xfrm>
            <a:off x="4000500" y="5852160"/>
            <a:ext cx="3131820" cy="9525"/>
          </a:xfrm>
          <a:prstGeom prst="rect">
            <a:avLst/>
          </a:prstGeom>
          <a:solidFill>
            <a:srgbClr val="E7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ule"/>
          <p:cNvSpPr/>
          <p:nvPr/>
        </p:nvSpPr>
        <p:spPr>
          <a:xfrm>
            <a:off x="640080" y="6400800"/>
            <a:ext cx="6492240" cy="15875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E8382F"/>
                </a:solidFill>
                <a:latin typeface="Inter"/>
              </a:rPr>
              <a:t>TOTAL</a:t>
            </a:r>
          </a:p>
        </p:txBody>
      </p:sp>
      <p:sp>
        <p:nvSpPr>
          <p:cNvPr id="34" name="Total"/>
          <p:cNvSpPr txBox="1"/>
          <p:nvPr/>
        </p:nvSpPr>
        <p:spPr>
          <a:xfrm>
            <a:off x="640080" y="66294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1717"/>
                </a:solidFill>
                <a:latin typeface="Inter"/>
              </a:rPr>
              <a:t>$2,650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6556248"/>
            <a:ext cx="164592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Equipment</a:t>
            </a:r>
          </a:p>
        </p:txBody>
      </p:sp>
      <p:sp>
        <p:nvSpPr>
          <p:cNvPr id="36" name="Equipment amount"/>
          <p:cNvSpPr txBox="1"/>
          <p:nvPr/>
        </p:nvSpPr>
        <p:spPr>
          <a:xfrm>
            <a:off x="6400800" y="6556248"/>
            <a:ext cx="73152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$1,450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6729984"/>
            <a:ext cx="164592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Crew</a:t>
            </a:r>
          </a:p>
        </p:txBody>
      </p:sp>
      <p:sp>
        <p:nvSpPr>
          <p:cNvPr id="38" name="Crew amount"/>
          <p:cNvSpPr txBox="1"/>
          <p:nvPr/>
        </p:nvSpPr>
        <p:spPr>
          <a:xfrm>
            <a:off x="6400800" y="6729984"/>
            <a:ext cx="73152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$1,200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6903720"/>
            <a:ext cx="164592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Tax</a:t>
            </a:r>
          </a:p>
        </p:txBody>
      </p:sp>
      <p:sp>
        <p:nvSpPr>
          <p:cNvPr id="40" name="Tax amount"/>
          <p:cNvSpPr txBox="1"/>
          <p:nvPr/>
        </p:nvSpPr>
        <p:spPr>
          <a:xfrm>
            <a:off x="6400800" y="6903720"/>
            <a:ext cx="731520" cy="155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B6B6B"/>
                </a:solidFill>
                <a:latin typeface="Inter"/>
              </a:rPr>
              <a:t>$0</a:t>
            </a:r>
          </a:p>
        </p:txBody>
      </p:sp>
      <p:sp>
        <p:nvSpPr>
          <p:cNvPr id="41" name="Contact"/>
          <p:cNvSpPr txBox="1"/>
          <p:nvPr/>
        </p:nvSpPr>
        <p:spPr>
          <a:xfrm>
            <a:off x="640080" y="7406640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Rick  ·  Rick@368eventmanagement.com  ·  (201) 893-5224</a:t>
            </a:r>
          </a:p>
        </p:txBody>
      </p:sp>
      <p:sp>
        <p:nvSpPr>
          <p:cNvPr id="42" name="Validity"/>
          <p:cNvSpPr txBox="1"/>
          <p:nvPr/>
        </p:nvSpPr>
        <p:spPr>
          <a:xfrm>
            <a:off x="640080" y="9372600"/>
            <a:ext cx="649224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3A3A3"/>
                </a:solidFill>
                <a:latin typeface="Inter"/>
              </a:rPr>
              <a:t>Quote 0625  ·  Issued Oct 28, 2026  ·  Valid until Nov 27,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