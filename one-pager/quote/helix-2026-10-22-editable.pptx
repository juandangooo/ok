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6B6B6B"/>
                </a:solidFill>
                <a:latin typeface="Inter"/>
              </a:rPr>
              <a:t>368 EVENT MANAGEMENT  ×  HELLHOUND AUDIO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0" y="548640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B6B6B"/>
                </a:solidFill>
                <a:latin typeface="Inter"/>
              </a:rPr>
              <a:t>Prepared for Helix  ·  Quote 0625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640080" y="786384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0096CF"/>
                </a:solidFill>
                <a:latin typeface="Inter"/>
              </a:rPr>
              <a:t>HELIX · OCTOBER 22, 2026</a:t>
            </a:r>
          </a:p>
        </p:txBody>
      </p:sp>
      <p:sp>
        <p:nvSpPr>
          <p:cNvPr id="5" name="Headline"/>
          <p:cNvSpPr txBox="1"/>
          <p:nvPr/>
        </p:nvSpPr>
        <p:spPr>
          <a:xfrm>
            <a:off x="640080" y="91440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171717"/>
                </a:solidFill>
                <a:latin typeface="Inter"/>
              </a:rPr>
              <a:t>Your event</a:t>
            </a:r>
          </a:p>
          <a:p>
            <a:pPr algn="l">
              <a:lnSpc>
                <a:spcPct val="100000"/>
              </a:lnSpc>
            </a:pPr>
            <a:r>
              <a:rPr sz="3800" b="1">
                <a:solidFill>
                  <a:srgbClr val="171717"/>
                </a:solidFill>
                <a:latin typeface="Inter"/>
              </a:rPr>
              <a:t>just works.</a:t>
            </a:r>
          </a:p>
        </p:txBody>
      </p:sp>
      <p:sp>
        <p:nvSpPr>
          <p:cNvPr id="6" name="Rule"/>
          <p:cNvSpPr/>
          <p:nvPr/>
        </p:nvSpPr>
        <p:spPr>
          <a:xfrm>
            <a:off x="640080" y="2487168"/>
            <a:ext cx="6492240" cy="9525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tat 1"/>
          <p:cNvSpPr txBox="1"/>
          <p:nvPr/>
        </p:nvSpPr>
        <p:spPr>
          <a:xfrm>
            <a:off x="640080" y="2615184"/>
            <a:ext cx="20726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71717"/>
                </a:solidFill>
                <a:latin typeface="Inter"/>
              </a:rPr>
              <a:t>$10,236</a:t>
            </a:r>
          </a:p>
        </p:txBody>
      </p:sp>
      <p:sp>
        <p:nvSpPr>
          <p:cNvPr id="8" name="Stat 1 label"/>
          <p:cNvSpPr txBox="1"/>
          <p:nvPr/>
        </p:nvSpPr>
        <p:spPr>
          <a:xfrm>
            <a:off x="640080" y="2944368"/>
            <a:ext cx="207264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B6B6B"/>
                </a:solidFill>
                <a:latin typeface="Inter"/>
              </a:rPr>
              <a:t>of equipment on site</a:t>
            </a:r>
          </a:p>
        </p:txBody>
      </p:sp>
      <p:sp>
        <p:nvSpPr>
          <p:cNvPr id="9" name="Stat 2"/>
          <p:cNvSpPr txBox="1"/>
          <p:nvPr/>
        </p:nvSpPr>
        <p:spPr>
          <a:xfrm>
            <a:off x="2804160" y="2615184"/>
            <a:ext cx="20726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71717"/>
                </a:solidFill>
                <a:latin typeface="Inter"/>
              </a:rPr>
              <a:t>2</a:t>
            </a:r>
          </a:p>
        </p:txBody>
      </p:sp>
      <p:sp>
        <p:nvSpPr>
          <p:cNvPr id="10" name="Stat 2 label"/>
          <p:cNvSpPr txBox="1"/>
          <p:nvPr/>
        </p:nvSpPr>
        <p:spPr>
          <a:xfrm>
            <a:off x="2804160" y="2944368"/>
            <a:ext cx="207264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B6B6B"/>
                </a:solidFill>
                <a:latin typeface="Inter"/>
              </a:rPr>
              <a:t>technicians, all day</a:t>
            </a:r>
          </a:p>
        </p:txBody>
      </p:sp>
      <p:sp>
        <p:nvSpPr>
          <p:cNvPr id="11" name="Stat 3"/>
          <p:cNvSpPr txBox="1"/>
          <p:nvPr/>
        </p:nvSpPr>
        <p:spPr>
          <a:xfrm>
            <a:off x="4968240" y="2615184"/>
            <a:ext cx="20726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71717"/>
                </a:solidFill>
                <a:latin typeface="Inter"/>
              </a:rPr>
              <a:t>9 AM – 5 PM</a:t>
            </a:r>
          </a:p>
        </p:txBody>
      </p:sp>
      <p:sp>
        <p:nvSpPr>
          <p:cNvPr id="12" name="Stat 3 label"/>
          <p:cNvSpPr txBox="1"/>
          <p:nvPr/>
        </p:nvSpPr>
        <p:spPr>
          <a:xfrm>
            <a:off x="4968240" y="2944368"/>
            <a:ext cx="207264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B6B6B"/>
                </a:solidFill>
                <a:latin typeface="Inter"/>
              </a:rPr>
              <a:t>Thu, Oct 22 · New Brunswick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71717"/>
                </a:solidFill>
                <a:latin typeface="Inter"/>
              </a:rPr>
              <a:t>What’s included</a:t>
            </a:r>
          </a:p>
        </p:txBody>
      </p:sp>
      <p:sp>
        <p:nvSpPr>
          <p:cNvPr id="14" name="Rule"/>
          <p:cNvSpPr/>
          <p:nvPr/>
        </p:nvSpPr>
        <p:spPr>
          <a:xfrm>
            <a:off x="640080" y="3794760"/>
            <a:ext cx="649224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rew name"/>
          <p:cNvSpPr txBox="1"/>
          <p:nvPr/>
        </p:nvSpPr>
        <p:spPr>
          <a:xfrm>
            <a:off x="640080" y="391363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71717"/>
                </a:solidFill>
                <a:latin typeface="Inter"/>
              </a:rPr>
              <a:t>Crew</a:t>
            </a:r>
          </a:p>
        </p:txBody>
      </p:sp>
      <p:sp>
        <p:nvSpPr>
          <p:cNvPr id="16" name="Crew description"/>
          <p:cNvSpPr txBox="1"/>
          <p:nvPr/>
        </p:nvSpPr>
        <p:spPr>
          <a:xfrm>
            <a:off x="640080" y="410565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Senior audio technician (A1), video technician (V1)</a:t>
            </a:r>
          </a:p>
        </p:txBody>
      </p:sp>
      <p:sp>
        <p:nvSpPr>
          <p:cNvPr id="17" name="Crew price"/>
          <p:cNvSpPr txBox="1"/>
          <p:nvPr/>
        </p:nvSpPr>
        <p:spPr>
          <a:xfrm>
            <a:off x="5669279" y="3794760"/>
            <a:ext cx="1463040" cy="5257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71717"/>
                </a:solidFill>
                <a:latin typeface="Inter"/>
              </a:rPr>
              <a:t>$1,200</a:t>
            </a:r>
          </a:p>
        </p:txBody>
      </p:sp>
      <p:sp>
        <p:nvSpPr>
          <p:cNvPr id="18" name="Rule"/>
          <p:cNvSpPr/>
          <p:nvPr/>
        </p:nvSpPr>
        <p:spPr>
          <a:xfrm>
            <a:off x="640080" y="4320540"/>
            <a:ext cx="649224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Video name"/>
          <p:cNvSpPr txBox="1"/>
          <p:nvPr/>
        </p:nvSpPr>
        <p:spPr>
          <a:xfrm>
            <a:off x="640080" y="443941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71717"/>
                </a:solidFill>
                <a:latin typeface="Inter"/>
              </a:rPr>
              <a:t>Video</a:t>
            </a:r>
          </a:p>
        </p:txBody>
      </p:sp>
      <p:sp>
        <p:nvSpPr>
          <p:cNvPr id="20" name="Video description"/>
          <p:cNvSpPr txBox="1"/>
          <p:nvPr/>
        </p:nvSpPr>
        <p:spPr>
          <a:xfrm>
            <a:off x="640080" y="463143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BirdDog X5 Ultra PTZ camera, Roland V-02HD MK II mixer, MacBook Air M2</a:t>
            </a:r>
          </a:p>
        </p:txBody>
      </p:sp>
      <p:sp>
        <p:nvSpPr>
          <p:cNvPr id="21" name="Video price"/>
          <p:cNvSpPr txBox="1"/>
          <p:nvPr/>
        </p:nvSpPr>
        <p:spPr>
          <a:xfrm>
            <a:off x="5669279" y="4320540"/>
            <a:ext cx="1463040" cy="5257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71717"/>
                </a:solidFill>
                <a:latin typeface="Inter"/>
              </a:rPr>
              <a:t>$850</a:t>
            </a:r>
          </a:p>
        </p:txBody>
      </p:sp>
      <p:sp>
        <p:nvSpPr>
          <p:cNvPr id="22" name="Rule"/>
          <p:cNvSpPr/>
          <p:nvPr/>
        </p:nvSpPr>
        <p:spPr>
          <a:xfrm>
            <a:off x="640080" y="4846320"/>
            <a:ext cx="649224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udio name"/>
          <p:cNvSpPr txBox="1"/>
          <p:nvPr/>
        </p:nvSpPr>
        <p:spPr>
          <a:xfrm>
            <a:off x="640080" y="496519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71717"/>
                </a:solidFill>
                <a:latin typeface="Inter"/>
              </a:rPr>
              <a:t>Audio</a:t>
            </a:r>
          </a:p>
        </p:txBody>
      </p:sp>
      <p:sp>
        <p:nvSpPr>
          <p:cNvPr id="24" name="Audio description"/>
          <p:cNvSpPr txBox="1"/>
          <p:nvPr/>
        </p:nvSpPr>
        <p:spPr>
          <a:xfrm>
            <a:off x="640080" y="515721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Focusrite Scarlett 2i2, Radial direct boxes, iPad</a:t>
            </a:r>
          </a:p>
        </p:txBody>
      </p:sp>
      <p:sp>
        <p:nvSpPr>
          <p:cNvPr id="25" name="Audio price"/>
          <p:cNvSpPr txBox="1"/>
          <p:nvPr/>
        </p:nvSpPr>
        <p:spPr>
          <a:xfrm>
            <a:off x="5669279" y="4846320"/>
            <a:ext cx="1463040" cy="5257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71717"/>
                </a:solidFill>
                <a:latin typeface="Inter"/>
              </a:rPr>
              <a:t>$100</a:t>
            </a:r>
          </a:p>
        </p:txBody>
      </p:sp>
      <p:sp>
        <p:nvSpPr>
          <p:cNvPr id="26" name="Rule"/>
          <p:cNvSpPr/>
          <p:nvPr/>
        </p:nvSpPr>
        <p:spPr>
          <a:xfrm>
            <a:off x="640080" y="5372100"/>
            <a:ext cx="649224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ransport name"/>
          <p:cNvSpPr txBox="1"/>
          <p:nvPr/>
        </p:nvSpPr>
        <p:spPr>
          <a:xfrm>
            <a:off x="640080" y="549097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71717"/>
                </a:solidFill>
                <a:latin typeface="Inter"/>
              </a:rPr>
              <a:t>Transport</a:t>
            </a:r>
          </a:p>
        </p:txBody>
      </p:sp>
      <p:sp>
        <p:nvSpPr>
          <p:cNvPr id="28" name="Transport description"/>
          <p:cNvSpPr txBox="1"/>
          <p:nvPr/>
        </p:nvSpPr>
        <p:spPr>
          <a:xfrm>
            <a:off x="640080" y="56829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Delivery, setup, and pick-up</a:t>
            </a:r>
          </a:p>
        </p:txBody>
      </p:sp>
      <p:sp>
        <p:nvSpPr>
          <p:cNvPr id="29" name="Transport price"/>
          <p:cNvSpPr txBox="1"/>
          <p:nvPr/>
        </p:nvSpPr>
        <p:spPr>
          <a:xfrm>
            <a:off x="5669279" y="5372100"/>
            <a:ext cx="1463040" cy="5257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71717"/>
                </a:solidFill>
                <a:latin typeface="Inter"/>
              </a:rPr>
              <a:t>$500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263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71717"/>
                </a:solidFill>
                <a:latin typeface="Inter"/>
              </a:rPr>
              <a:t>Also in this quote</a:t>
            </a:r>
          </a:p>
        </p:txBody>
      </p:sp>
      <p:sp>
        <p:nvSpPr>
          <p:cNvPr id="31" name="Also 1"/>
          <p:cNvSpPr txBox="1"/>
          <p:nvPr/>
        </p:nvSpPr>
        <p:spPr>
          <a:xfrm>
            <a:off x="640080" y="6629400"/>
            <a:ext cx="31318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71717"/>
                </a:solidFill>
                <a:latin typeface="Inter"/>
              </a:rPr>
              <a:t>✓   Joystick camera controller</a:t>
            </a:r>
          </a:p>
        </p:txBody>
      </p:sp>
      <p:sp>
        <p:nvSpPr>
          <p:cNvPr id="32" name="Rule"/>
          <p:cNvSpPr/>
          <p:nvPr/>
        </p:nvSpPr>
        <p:spPr>
          <a:xfrm>
            <a:off x="640080" y="6876288"/>
            <a:ext cx="313182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lso 2"/>
          <p:cNvSpPr txBox="1"/>
          <p:nvPr/>
        </p:nvSpPr>
        <p:spPr>
          <a:xfrm>
            <a:off x="640080" y="6894576"/>
            <a:ext cx="31318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71717"/>
                </a:solidFill>
                <a:latin typeface="Inter"/>
              </a:rPr>
              <a:t>✓   SDI and HDMI cable package</a:t>
            </a:r>
          </a:p>
        </p:txBody>
      </p:sp>
      <p:sp>
        <p:nvSpPr>
          <p:cNvPr id="34" name="Rule"/>
          <p:cNvSpPr/>
          <p:nvPr/>
        </p:nvSpPr>
        <p:spPr>
          <a:xfrm>
            <a:off x="640080" y="7141464"/>
            <a:ext cx="313182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lso 3"/>
          <p:cNvSpPr txBox="1"/>
          <p:nvPr/>
        </p:nvSpPr>
        <p:spPr>
          <a:xfrm>
            <a:off x="640080" y="7159752"/>
            <a:ext cx="31318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71717"/>
                </a:solidFill>
                <a:latin typeface="Inter"/>
              </a:rPr>
              <a:t>✓   Remote pan, tilt, and zoom</a:t>
            </a:r>
          </a:p>
        </p:txBody>
      </p:sp>
      <p:sp>
        <p:nvSpPr>
          <p:cNvPr id="36" name="Rule"/>
          <p:cNvSpPr/>
          <p:nvPr/>
        </p:nvSpPr>
        <p:spPr>
          <a:xfrm>
            <a:off x="640080" y="7406640"/>
            <a:ext cx="313182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lso 4"/>
          <p:cNvSpPr txBox="1"/>
          <p:nvPr/>
        </p:nvSpPr>
        <p:spPr>
          <a:xfrm>
            <a:off x="4000500" y="6629400"/>
            <a:ext cx="31318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71717"/>
                </a:solidFill>
                <a:latin typeface="Inter"/>
              </a:rPr>
              <a:t>✓   4K camera monitor for the technician</a:t>
            </a:r>
          </a:p>
        </p:txBody>
      </p:sp>
      <p:sp>
        <p:nvSpPr>
          <p:cNvPr id="38" name="Rule"/>
          <p:cNvSpPr/>
          <p:nvPr/>
        </p:nvSpPr>
        <p:spPr>
          <a:xfrm>
            <a:off x="4000500" y="6876288"/>
            <a:ext cx="313182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lso 5"/>
          <p:cNvSpPr txBox="1"/>
          <p:nvPr/>
        </p:nvSpPr>
        <p:spPr>
          <a:xfrm>
            <a:off x="4000500" y="6894576"/>
            <a:ext cx="31318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71717"/>
                </a:solidFill>
                <a:latin typeface="Inter"/>
              </a:rPr>
              <a:t>✓   PoE+ network switch</a:t>
            </a:r>
          </a:p>
        </p:txBody>
      </p:sp>
      <p:sp>
        <p:nvSpPr>
          <p:cNvPr id="40" name="Rule"/>
          <p:cNvSpPr/>
          <p:nvPr/>
        </p:nvSpPr>
        <p:spPr>
          <a:xfrm>
            <a:off x="4000500" y="7141464"/>
            <a:ext cx="313182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Also 6"/>
          <p:cNvSpPr txBox="1"/>
          <p:nvPr/>
        </p:nvSpPr>
        <p:spPr>
          <a:xfrm>
            <a:off x="4000500" y="7159752"/>
            <a:ext cx="31318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71717"/>
                </a:solidFill>
                <a:latin typeface="Inter"/>
              </a:rPr>
              <a:t>✓   Camera tripods</a:t>
            </a:r>
          </a:p>
        </p:txBody>
      </p:sp>
      <p:sp>
        <p:nvSpPr>
          <p:cNvPr id="42" name="Rule"/>
          <p:cNvSpPr/>
          <p:nvPr/>
        </p:nvSpPr>
        <p:spPr>
          <a:xfrm>
            <a:off x="4000500" y="7406640"/>
            <a:ext cx="313182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ule"/>
          <p:cNvSpPr/>
          <p:nvPr/>
        </p:nvSpPr>
        <p:spPr>
          <a:xfrm>
            <a:off x="640080" y="7818120"/>
            <a:ext cx="6492240" cy="15875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7918704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E8382F"/>
                </a:solidFill>
                <a:latin typeface="Inter"/>
              </a:rPr>
              <a:t>TOTAL</a:t>
            </a:r>
          </a:p>
        </p:txBody>
      </p:sp>
      <p:sp>
        <p:nvSpPr>
          <p:cNvPr id="45" name="Total"/>
          <p:cNvSpPr txBox="1"/>
          <p:nvPr/>
        </p:nvSpPr>
        <p:spPr>
          <a:xfrm>
            <a:off x="640080" y="804672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71717"/>
                </a:solidFill>
                <a:latin typeface="Inter"/>
              </a:rPr>
              <a:t>$2,650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54879" y="7973568"/>
            <a:ext cx="164592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Equipment rental</a:t>
            </a:r>
          </a:p>
        </p:txBody>
      </p:sp>
      <p:sp>
        <p:nvSpPr>
          <p:cNvPr id="47" name="Equipment rental amount"/>
          <p:cNvSpPr txBox="1"/>
          <p:nvPr/>
        </p:nvSpPr>
        <p:spPr>
          <a:xfrm>
            <a:off x="6400800" y="7973568"/>
            <a:ext cx="73152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$950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79" y="8147304"/>
            <a:ext cx="164592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Crew and transport</a:t>
            </a:r>
          </a:p>
        </p:txBody>
      </p:sp>
      <p:sp>
        <p:nvSpPr>
          <p:cNvPr id="49" name="Crew and transport amount"/>
          <p:cNvSpPr txBox="1"/>
          <p:nvPr/>
        </p:nvSpPr>
        <p:spPr>
          <a:xfrm>
            <a:off x="6400800" y="8147304"/>
            <a:ext cx="73152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$1,700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4879" y="8321040"/>
            <a:ext cx="164592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Tax</a:t>
            </a:r>
          </a:p>
        </p:txBody>
      </p:sp>
      <p:sp>
        <p:nvSpPr>
          <p:cNvPr id="51" name="Tax amount"/>
          <p:cNvSpPr txBox="1"/>
          <p:nvPr/>
        </p:nvSpPr>
        <p:spPr>
          <a:xfrm>
            <a:off x="6400800" y="8321040"/>
            <a:ext cx="73152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$0</a:t>
            </a:r>
          </a:p>
        </p:txBody>
      </p:sp>
      <p:sp>
        <p:nvSpPr>
          <p:cNvPr id="52" name="Contact"/>
          <p:cNvSpPr txBox="1"/>
          <p:nvPr/>
        </p:nvSpPr>
        <p:spPr>
          <a:xfrm>
            <a:off x="640080" y="8823960"/>
            <a:ext cx="649224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B6B"/>
                </a:solidFill>
                <a:latin typeface="Inter"/>
              </a:rPr>
              <a:t>Rick  ·  Rick@368eventmanagement.com  ·  (201) 893-5224</a:t>
            </a:r>
          </a:p>
        </p:txBody>
      </p:sp>
      <p:sp>
        <p:nvSpPr>
          <p:cNvPr id="53" name="Validity"/>
          <p:cNvSpPr txBox="1"/>
          <p:nvPr/>
        </p:nvSpPr>
        <p:spPr>
          <a:xfrm>
            <a:off x="640080" y="9372600"/>
            <a:ext cx="6492240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A3A3A3"/>
                </a:solidFill>
                <a:latin typeface="Inter"/>
              </a:rPr>
              <a:t>Quote 0625  ·  Issued Oct 28, 2026  ·  Valid until Nov 27,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